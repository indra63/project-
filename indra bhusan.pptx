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1" d="100"/>
          <a:sy n="81" d="100"/>
        </p:scale>
        <p:origin x="-80" y="-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59B94-72AB-4A40-B71F-6A00F6B9F54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0A14C-6EC4-421D-8A5B-E64A80E9A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284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59B94-72AB-4A40-B71F-6A00F6B9F54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0A14C-6EC4-421D-8A5B-E64A80E9A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56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59B94-72AB-4A40-B71F-6A00F6B9F54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0A14C-6EC4-421D-8A5B-E64A80E9A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613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59B94-72AB-4A40-B71F-6A00F6B9F54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0A14C-6EC4-421D-8A5B-E64A80E9A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9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59B94-72AB-4A40-B71F-6A00F6B9F54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0A14C-6EC4-421D-8A5B-E64A80E9A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365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59B94-72AB-4A40-B71F-6A00F6B9F54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0A14C-6EC4-421D-8A5B-E64A80E9A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9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59B94-72AB-4A40-B71F-6A00F6B9F54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0A14C-6EC4-421D-8A5B-E64A80E9A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51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59B94-72AB-4A40-B71F-6A00F6B9F54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0A14C-6EC4-421D-8A5B-E64A80E9A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76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59B94-72AB-4A40-B71F-6A00F6B9F54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0A14C-6EC4-421D-8A5B-E64A80E9A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276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59B94-72AB-4A40-B71F-6A00F6B9F54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0A14C-6EC4-421D-8A5B-E64A80E9A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69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59B94-72AB-4A40-B71F-6A00F6B9F54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0A14C-6EC4-421D-8A5B-E64A80E9A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91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59B94-72AB-4A40-B71F-6A00F6B9F54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0A14C-6EC4-421D-8A5B-E64A80E9A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878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914400" y="314215"/>
            <a:ext cx="11277600" cy="123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0" y="6482245"/>
            <a:ext cx="12192000" cy="404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854815" y="0"/>
            <a:ext cx="3811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32294" y="821094"/>
            <a:ext cx="9082" cy="60369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oogle Shape;87;p1" descr="Goel Institute of Technology and Management (GITM) Lucknow Admission  2021-20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5871" y="143070"/>
            <a:ext cx="615223" cy="584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052" y="-91440"/>
            <a:ext cx="5803895" cy="557348"/>
          </a:xfrm>
          <a:prstGeom prst="rect">
            <a:avLst/>
          </a:prstGeom>
        </p:spPr>
      </p:pic>
      <p:grpSp>
        <p:nvGrpSpPr>
          <p:cNvPr id="33" name="Group 32"/>
          <p:cNvGrpSpPr/>
          <p:nvPr/>
        </p:nvGrpSpPr>
        <p:grpSpPr>
          <a:xfrm>
            <a:off x="3462098" y="879539"/>
            <a:ext cx="5752472" cy="3621504"/>
            <a:chOff x="3461719" y="913676"/>
            <a:chExt cx="5752472" cy="3621504"/>
          </a:xfrm>
        </p:grpSpPr>
        <p:pic>
          <p:nvPicPr>
            <p:cNvPr id="12" name="Google Shape;87;p1" descr="Goel Institute of Technology and Management (GITM) Lucknow Admission  2021-202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366294" y="2266550"/>
              <a:ext cx="1483923" cy="14773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Rectangle 23"/>
            <p:cNvSpPr/>
            <p:nvPr/>
          </p:nvSpPr>
          <p:spPr>
            <a:xfrm>
              <a:off x="3680015" y="913676"/>
              <a:ext cx="483616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b="1" dirty="0">
                  <a:latin typeface="Bell MT" panose="02020503060305020303" pitchFamily="18" charset="0"/>
                </a:rPr>
                <a:t>A</a:t>
              </a:r>
            </a:p>
            <a:p>
              <a:pPr algn="ctr"/>
              <a:r>
                <a:rPr lang="en-IN" b="1" dirty="0">
                  <a:latin typeface="Bell MT" panose="02020503060305020303" pitchFamily="18" charset="0"/>
                </a:rPr>
                <a:t>MINI PROJECT PRESENTATION</a:t>
              </a:r>
            </a:p>
            <a:p>
              <a:pPr algn="ctr"/>
              <a:r>
                <a:rPr lang="en-IN" b="1" dirty="0">
                  <a:latin typeface="Bell MT" panose="02020503060305020303" pitchFamily="18" charset="0"/>
                </a:rPr>
                <a:t>ON</a:t>
              </a:r>
            </a:p>
            <a:p>
              <a:pPr algn="ctr"/>
              <a:r>
                <a:rPr lang="en-IN" b="1" dirty="0">
                  <a:solidFill>
                    <a:srgbClr val="FF0000"/>
                  </a:solidFill>
                  <a:latin typeface="Bell MT" panose="02020503060305020303" pitchFamily="18" charset="0"/>
                </a:rPr>
                <a:t>PROJECT NAME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947541" y="3843632"/>
              <a:ext cx="29502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rgbClr val="FF0000"/>
                  </a:solidFill>
                  <a:latin typeface="Aparajita" panose="02020603050405020304" pitchFamily="18" charset="0"/>
                  <a:cs typeface="Aparajita" panose="02020603050405020304" pitchFamily="18" charset="0"/>
                </a:rPr>
                <a:t>SESSION</a:t>
              </a:r>
              <a:r>
                <a:rPr lang="en-IN" sz="2400" b="1" dirty="0">
                  <a:latin typeface="Aparajita" panose="02020603050405020304" pitchFamily="18" charset="0"/>
                  <a:cs typeface="Aparajita" panose="02020603050405020304" pitchFamily="18" charset="0"/>
                </a:rPr>
                <a:t> 2025-2026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461719" y="4165848"/>
              <a:ext cx="57524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b="1" dirty="0">
                  <a:latin typeface="Bell MT" panose="02020503060305020303" pitchFamily="18" charset="0"/>
                </a:rPr>
                <a:t>DEPARTMENT OF INFORMATION TECHNOLOGY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623272" y="5325071"/>
            <a:ext cx="33289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Bell MT" panose="02020503060305020303" pitchFamily="18" charset="0"/>
              </a:rPr>
              <a:t>Presented to -              </a:t>
            </a:r>
          </a:p>
          <a:p>
            <a:r>
              <a:rPr lang="en-US" b="1" dirty="0">
                <a:latin typeface="Bell MT" panose="02020503060305020303" pitchFamily="18" charset="0"/>
              </a:rPr>
              <a:t>MR. </a:t>
            </a:r>
          </a:p>
          <a:p>
            <a:r>
              <a:rPr lang="en-US" b="1" dirty="0">
                <a:latin typeface="Bell MT" panose="02020503060305020303" pitchFamily="18" charset="0"/>
              </a:rPr>
              <a:t>(ASSISTANT PROFESSOR)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45780" y="5306978"/>
            <a:ext cx="36296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Bell MT" panose="02020503060305020303" pitchFamily="18" charset="0"/>
              </a:rPr>
              <a:t>Presented by - </a:t>
            </a:r>
            <a:r>
              <a:rPr lang="en-US" b="1" dirty="0" smtClean="0">
                <a:solidFill>
                  <a:srgbClr val="FF0000"/>
                </a:solidFill>
                <a:latin typeface="Bell MT" panose="02020503060305020303" pitchFamily="18" charset="0"/>
              </a:rPr>
              <a:t> </a:t>
            </a:r>
            <a:r>
              <a:rPr lang="en-US" b="1" dirty="0" err="1" smtClean="0">
                <a:latin typeface="Bell MT" panose="02020503060305020303" pitchFamily="18" charset="0"/>
              </a:rPr>
              <a:t>Indra</a:t>
            </a:r>
            <a:r>
              <a:rPr lang="en-US" b="1" dirty="0" smtClean="0">
                <a:latin typeface="Bell MT" panose="02020503060305020303" pitchFamily="18" charset="0"/>
              </a:rPr>
              <a:t> </a:t>
            </a:r>
            <a:r>
              <a:rPr lang="en-US" b="1" dirty="0" err="1">
                <a:latin typeface="Bell MT" panose="02020503060305020303" pitchFamily="18" charset="0"/>
              </a:rPr>
              <a:t>B</a:t>
            </a:r>
            <a:r>
              <a:rPr lang="en-US" b="1" dirty="0" err="1" smtClean="0">
                <a:latin typeface="Bell MT" panose="02020503060305020303" pitchFamily="18" charset="0"/>
              </a:rPr>
              <a:t>hushan</a:t>
            </a:r>
            <a:r>
              <a:rPr lang="en-US" b="1" dirty="0" smtClean="0">
                <a:latin typeface="Bell MT" panose="02020503060305020303" pitchFamily="18" charset="0"/>
              </a:rPr>
              <a:t> </a:t>
            </a:r>
            <a:r>
              <a:rPr lang="en-US" b="1" dirty="0" err="1" smtClean="0">
                <a:latin typeface="Bell MT" panose="02020503060305020303" pitchFamily="18" charset="0"/>
              </a:rPr>
              <a:t>Goswami</a:t>
            </a:r>
            <a:r>
              <a:rPr lang="en-US" b="1" dirty="0" smtClean="0">
                <a:latin typeface="Bell MT" panose="02020503060305020303" pitchFamily="18" charset="0"/>
              </a:rPr>
              <a:t>          </a:t>
            </a:r>
            <a:endParaRPr lang="en-US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700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914400" y="314215"/>
            <a:ext cx="11277600" cy="123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0" y="6482245"/>
            <a:ext cx="12192000" cy="404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854815" y="0"/>
            <a:ext cx="3811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32294" y="821094"/>
            <a:ext cx="9082" cy="60369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oogle Shape;87;p1" descr="Goel Institute of Technology and Management (GITM) Lucknow Admission  2021-20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5871" y="143070"/>
            <a:ext cx="615223" cy="584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052" y="-91440"/>
            <a:ext cx="5803895" cy="557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204BE1D-17F8-2626-D361-557C42D81A06}"/>
              </a:ext>
            </a:extLst>
          </p:cNvPr>
          <p:cNvSpPr txBox="1"/>
          <p:nvPr/>
        </p:nvSpPr>
        <p:spPr>
          <a:xfrm>
            <a:off x="1129942" y="1172233"/>
            <a:ext cx="813002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Library Management System (LMS)</a:t>
            </a:r>
            <a:r>
              <a:rPr lang="en-US" sz="2400" dirty="0"/>
              <a:t> is a digital solution designed to automate and streamline the management of library activities.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helps in maintaining records of books, users, issued and returned books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system reduces manual work and saves time for both students and librarians</a:t>
            </a:r>
          </a:p>
        </p:txBody>
      </p:sp>
    </p:spTree>
    <p:extLst>
      <p:ext uri="{BB962C8B-B14F-4D97-AF65-F5344CB8AC3E}">
        <p14:creationId xmlns:p14="http://schemas.microsoft.com/office/powerpoint/2010/main" val="10823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09D5F93-65C8-D9A3-EA22-5BC65C14A85B}"/>
              </a:ext>
            </a:extLst>
          </p:cNvPr>
          <p:cNvSpPr txBox="1"/>
          <p:nvPr/>
        </p:nvSpPr>
        <p:spPr>
          <a:xfrm>
            <a:off x="844062" y="787514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Manual record-keeping leads to errors and inefficiency.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Difficult to track issued, returned, and overdue books.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Time-consuming search for book availability.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Lack of real-time data and reports.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Chances of data loss in paper-based systems</a:t>
            </a:r>
          </a:p>
        </p:txBody>
      </p:sp>
    </p:spTree>
    <p:extLst>
      <p:ext uri="{BB962C8B-B14F-4D97-AF65-F5344CB8AC3E}">
        <p14:creationId xmlns:p14="http://schemas.microsoft.com/office/powerpoint/2010/main" val="286778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2F5D8D6-A887-7CDD-15E4-FE5780BE3064}"/>
              </a:ext>
            </a:extLst>
          </p:cNvPr>
          <p:cNvSpPr txBox="1"/>
          <p:nvPr/>
        </p:nvSpPr>
        <p:spPr>
          <a:xfrm>
            <a:off x="789354" y="494885"/>
            <a:ext cx="80811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Proposed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Develop an </a:t>
            </a:r>
            <a:r>
              <a:rPr lang="en-US" sz="2400" b="1" dirty="0"/>
              <a:t>automated web-based system</a:t>
            </a:r>
            <a:r>
              <a:rPr lang="en-US" sz="2400" dirty="0"/>
              <a:t> for managing library activities.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Enable </a:t>
            </a:r>
            <a:r>
              <a:rPr lang="en-US" sz="2400" b="1" dirty="0"/>
              <a:t>real-time tracking</a:t>
            </a:r>
            <a:r>
              <a:rPr lang="en-US" sz="2400" dirty="0"/>
              <a:t> of issued and returned books.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Allow </a:t>
            </a:r>
            <a:r>
              <a:rPr lang="en-US" sz="2400" b="1" dirty="0"/>
              <a:t>students to search</a:t>
            </a:r>
            <a:r>
              <a:rPr lang="en-US" sz="2400" dirty="0"/>
              <a:t> for books instantly by title, author, or subject.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Maintain a </a:t>
            </a:r>
            <a:r>
              <a:rPr lang="en-US" sz="2400" b="1" dirty="0"/>
              <a:t>centralized digital database</a:t>
            </a:r>
            <a:r>
              <a:rPr lang="en-US" sz="2400" dirty="0"/>
              <a:t> for all records.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Generate </a:t>
            </a:r>
            <a:r>
              <a:rPr lang="en-US" sz="2400" b="1" dirty="0"/>
              <a:t>reports and notifications</a:t>
            </a:r>
            <a:r>
              <a:rPr lang="en-US" sz="2400" dirty="0"/>
              <a:t> for better management</a:t>
            </a:r>
          </a:p>
        </p:txBody>
      </p:sp>
    </p:spTree>
    <p:extLst>
      <p:ext uri="{BB962C8B-B14F-4D97-AF65-F5344CB8AC3E}">
        <p14:creationId xmlns:p14="http://schemas.microsoft.com/office/powerpoint/2010/main" val="583326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F43B2D1-7F6B-C6E6-0B41-A4D44448CC76}"/>
              </a:ext>
            </a:extLst>
          </p:cNvPr>
          <p:cNvSpPr txBox="1"/>
          <p:nvPr/>
        </p:nvSpPr>
        <p:spPr>
          <a:xfrm>
            <a:off x="804984" y="678099"/>
            <a:ext cx="752621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 automate library operations and reduce manual workload.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 enhance efficiency and accuracy of data handling.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 provide easy access to book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 enable secure and organized record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 make the system user-friendly and accessible online.</a:t>
            </a:r>
          </a:p>
        </p:txBody>
      </p:sp>
    </p:spTree>
    <p:extLst>
      <p:ext uri="{BB962C8B-B14F-4D97-AF65-F5344CB8AC3E}">
        <p14:creationId xmlns:p14="http://schemas.microsoft.com/office/powerpoint/2010/main" val="2692742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915A1E7-F41F-72F5-0ADE-DFF2EF5E7A98}"/>
              </a:ext>
            </a:extLst>
          </p:cNvPr>
          <p:cNvSpPr txBox="1"/>
          <p:nvPr/>
        </p:nvSpPr>
        <p:spPr>
          <a:xfrm>
            <a:off x="640861" y="322946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🔹 Book Issue and Return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🔹 Student and Admin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🔹 Book Search and Filter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🔹 Due Date Reminder / Notification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🔹 Secure Login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🔹 Add / Delete / Update Book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🔹 Real-Time Database Updates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D4C935B-4D61-D87A-D8ED-9C9E7628890A}"/>
              </a:ext>
            </a:extLst>
          </p:cNvPr>
          <p:cNvSpPr txBox="1"/>
          <p:nvPr/>
        </p:nvSpPr>
        <p:spPr>
          <a:xfrm>
            <a:off x="640861" y="3710468"/>
            <a:ext cx="77059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Expected Outcome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Faster and error-free library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Easy and quick access to books and user records.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Reduced workload for library staff.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Enhanced data security and reliability.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Improved user experience and time efficiency.</a:t>
            </a:r>
          </a:p>
        </p:txBody>
      </p:sp>
    </p:spTree>
    <p:extLst>
      <p:ext uri="{BB962C8B-B14F-4D97-AF65-F5344CB8AC3E}">
        <p14:creationId xmlns:p14="http://schemas.microsoft.com/office/powerpoint/2010/main" val="1041301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D236417-360F-610B-3219-151D96077C5A}"/>
              </a:ext>
            </a:extLst>
          </p:cNvPr>
          <p:cNvSpPr txBox="1"/>
          <p:nvPr/>
        </p:nvSpPr>
        <p:spPr>
          <a:xfrm>
            <a:off x="468923" y="201361"/>
            <a:ext cx="77450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Tools &amp; 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Frontend:</a:t>
            </a:r>
            <a:r>
              <a:rPr lang="en-IN" sz="2400" dirty="0"/>
              <a:t> HTML, CSS, 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Backend:</a:t>
            </a:r>
            <a:r>
              <a:rPr lang="en-IN" sz="2400" dirty="0"/>
              <a:t> PHP / Python / Node.js </a:t>
            </a:r>
            <a:r>
              <a:rPr lang="en-IN" sz="2400" i="1" dirty="0"/>
              <a:t>(choose whichever you used)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Database:</a:t>
            </a:r>
            <a:r>
              <a:rPr lang="en-IN" sz="2400" dirty="0"/>
              <a:t> MySQL / SQLite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IDE/Editor:</a:t>
            </a:r>
            <a:r>
              <a:rPr lang="en-IN" sz="2400" dirty="0"/>
              <a:t> VS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Hosting (optional):</a:t>
            </a:r>
            <a:r>
              <a:rPr lang="en-IN" sz="2400" dirty="0"/>
              <a:t> Localhost (XAMPP / WAMP)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6478B3C-27C1-EB5F-A438-65D5989256AC}"/>
              </a:ext>
            </a:extLst>
          </p:cNvPr>
          <p:cNvSpPr txBox="1"/>
          <p:nvPr/>
        </p:nvSpPr>
        <p:spPr>
          <a:xfrm>
            <a:off x="468923" y="2954553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How It Works (Flowchart)</a:t>
            </a:r>
          </a:p>
          <a:p>
            <a:pPr>
              <a:buNone/>
            </a:pPr>
            <a:r>
              <a:rPr lang="en-IN" sz="2400" b="1" dirty="0"/>
              <a:t>Flow:</a:t>
            </a:r>
            <a:endParaRPr lang="en-IN" sz="2400" dirty="0"/>
          </a:p>
          <a:p>
            <a:pPr>
              <a:buFont typeface="+mj-lt"/>
              <a:buAutoNum type="arabicPeriod"/>
            </a:pPr>
            <a:r>
              <a:rPr lang="en-IN" sz="2400" b="1" dirty="0"/>
              <a:t>User Login (Admin/Student)</a:t>
            </a:r>
            <a:endParaRPr lang="en-IN" sz="2400" dirty="0"/>
          </a:p>
          <a:p>
            <a:pPr>
              <a:buFont typeface="+mj-lt"/>
              <a:buAutoNum type="arabicPeriod"/>
            </a:pPr>
            <a:r>
              <a:rPr lang="en-IN" sz="2400" b="1" dirty="0"/>
              <a:t>Admin Dashboard → Manage Books &amp; Users</a:t>
            </a:r>
            <a:endParaRPr lang="en-IN" sz="2400" dirty="0"/>
          </a:p>
          <a:p>
            <a:pPr>
              <a:buFont typeface="+mj-lt"/>
              <a:buAutoNum type="arabicPeriod"/>
            </a:pPr>
            <a:r>
              <a:rPr lang="en-IN" sz="2400" b="1" dirty="0"/>
              <a:t>Student Dashboard → Search &amp; Issue Books</a:t>
            </a:r>
            <a:endParaRPr lang="en-IN" sz="2400" dirty="0"/>
          </a:p>
          <a:p>
            <a:pPr>
              <a:buFont typeface="+mj-lt"/>
              <a:buAutoNum type="arabicPeriod"/>
            </a:pPr>
            <a:r>
              <a:rPr lang="en-IN" sz="2400" b="1" dirty="0"/>
              <a:t>Database Updates → Records Stored Securely</a:t>
            </a:r>
            <a:endParaRPr lang="en-IN" sz="2400" dirty="0"/>
          </a:p>
          <a:p>
            <a:pPr>
              <a:buFont typeface="+mj-lt"/>
              <a:buAutoNum type="arabicPeriod"/>
            </a:pPr>
            <a:r>
              <a:rPr lang="en-IN" sz="2400" b="1" dirty="0"/>
              <a:t>Notifications Sent → Issue/Return Reminders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98527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375</Words>
  <Application>Microsoft Office PowerPoint</Application>
  <PresentationFormat>Custom</PresentationFormat>
  <Paragraphs>59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rohit yadav</dc:creator>
  <cp:lastModifiedBy>DELL</cp:lastModifiedBy>
  <cp:revision>5</cp:revision>
  <dcterms:created xsi:type="dcterms:W3CDTF">2025-09-30T09:50:59Z</dcterms:created>
  <dcterms:modified xsi:type="dcterms:W3CDTF">2025-11-13T04:27:00Z</dcterms:modified>
</cp:coreProperties>
</file>